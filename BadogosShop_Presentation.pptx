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5143500" cy="9144000"/>
  <p:embeddedFontLst>
    <p:embeddedFont>
      <p:font typeface="Arial Black"/>
      <p:regular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7" Type="http://schemas.openxmlformats.org/officeDocument/2006/relationships/font" Target="fonts/ArialBlack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c503f9066_0_1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cc503f9066_0_1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cc503f9066_0_18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c503f9066_0_2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cc503f9066_0_20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3cc503f9066_0_20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cc503f9066_0_1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g3cc503f9066_0_1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3cc503f9066_0_19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c503f9066_0_2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cc503f9066_0_2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cc503f9066_0_2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cc503f9066_0_2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g3cc503f9066_0_2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cc503f9066_0_2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cc22ee2d83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3cc22ee2d83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cc22ee2d83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cc503f9066_0_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g3cc503f9066_0_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cc503f9066_0_7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cc503f9066_0_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g3cc503f9066_0_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cc503f9066_0_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cc503f9066_0_1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g3cc503f9066_0_1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cc503f9066_0_10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cc503f9066_0_1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g3cc503f9066_0_1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g3cc503f9066_0_1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cc503f9066_0_1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g3cc503f9066_0_1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3cc503f9066_0_16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6.png"/><Relationship Id="rId5" Type="http://schemas.openxmlformats.org/officeDocument/2006/relationships/image" Target="../media/image13.png"/><Relationship Id="rId6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1.png"/><Relationship Id="rId7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7.png"/><Relationship Id="rId5" Type="http://schemas.openxmlformats.org/officeDocument/2006/relationships/image" Target="../media/image2.png"/><Relationship Id="rId6" Type="http://schemas.openxmlformats.org/officeDocument/2006/relationships/image" Target="../media/image12.png"/><Relationship Id="rId7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Relationship Id="rId4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Relationship Id="rId4" Type="http://schemas.openxmlformats.org/officeDocument/2006/relationships/image" Target="../media/image11.png"/><Relationship Id="rId5" Type="http://schemas.openxmlformats.org/officeDocument/2006/relationships/image" Target="../media/image2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Relationship Id="rId4" Type="http://schemas.openxmlformats.org/officeDocument/2006/relationships/image" Target="../media/image2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Relationship Id="rId4" Type="http://schemas.openxmlformats.org/officeDocument/2006/relationships/image" Target="../media/image2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4.png"/><Relationship Id="rId4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164592" y="2377440"/>
            <a:ext cx="5029200" cy="54864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 Black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BádogosShop</a:t>
            </a:r>
            <a:endParaRPr i="0" sz="48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6307500" y="365750"/>
            <a:ext cx="2560200" cy="2560200"/>
          </a:xfrm>
          <a:prstGeom prst="ellipse">
            <a:avLst/>
          </a:prstGeom>
          <a:solidFill>
            <a:srgbClr val="0F3460"/>
          </a:solidFill>
          <a:ln cap="flat" cmpd="sng" w="254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6764638" y="2148845"/>
            <a:ext cx="1645800" cy="1645800"/>
          </a:xfrm>
          <a:prstGeom prst="ellipse">
            <a:avLst/>
          </a:prstGeom>
          <a:solidFill>
            <a:srgbClr val="1A3A6A"/>
          </a:solidFill>
          <a:ln cap="flat" cmpd="sng" w="1905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248000" y="4594805"/>
            <a:ext cx="5486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B0"/>
              </a:buClr>
              <a:buSzPts val="1400"/>
              <a:buFont typeface="Calibri"/>
              <a:buNone/>
            </a:pPr>
            <a:r>
              <a:rPr lang="en-US" sz="15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Készítik: Bádogos Ádám, Csorba Patrik, </a:t>
            </a:r>
            <a:endParaRPr sz="15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B0"/>
              </a:buClr>
              <a:buSzPts val="1400"/>
              <a:buFont typeface="Calibri"/>
              <a:buNone/>
            </a:pPr>
            <a:r>
              <a:rPr lang="en-US" sz="15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Gárdony Martin</a:t>
            </a:r>
            <a:endParaRPr i="0" sz="15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4125" y="642574"/>
            <a:ext cx="3009876" cy="2006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213E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1" lang="en-US" sz="300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Csapattagok</a:t>
            </a:r>
            <a:endParaRPr i="0" sz="30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365760" y="1417320"/>
            <a:ext cx="2651760" cy="3291840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457200" y="301752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 Black"/>
              <a:buNone/>
            </a:pPr>
            <a:r>
              <a:rPr b="1" lang="en-US" sz="160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Csorba Patrik</a:t>
            </a:r>
            <a:endParaRPr i="0" sz="16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457200" y="3547872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100"/>
              <a:buFont typeface="Calibri"/>
              <a:buNone/>
            </a:pPr>
            <a:r>
              <a:rPr i="1" lang="en-US" sz="1300">
                <a:solidFill>
                  <a:srgbClr val="F5A623"/>
                </a:solidFill>
                <a:latin typeface="Comic Sans MS"/>
                <a:ea typeface="Comic Sans MS"/>
                <a:cs typeface="Comic Sans MS"/>
                <a:sym typeface="Comic Sans MS"/>
              </a:rPr>
              <a:t>PM / Adatbázis</a:t>
            </a:r>
            <a:endParaRPr i="0" sz="13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502920" y="397764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0B0"/>
              </a:buClr>
              <a:buSzPts val="1000"/>
              <a:buFont typeface="Calibri"/>
              <a:buNone/>
            </a:pPr>
            <a:r>
              <a:rPr lang="en-US" sz="1200">
                <a:solidFill>
                  <a:srgbClr val="A0A0B0"/>
                </a:solidFill>
                <a:latin typeface="Comic Sans MS"/>
                <a:ea typeface="Comic Sans MS"/>
                <a:cs typeface="Comic Sans MS"/>
                <a:sym typeface="Comic Sans MS"/>
              </a:rPr>
              <a:t>MAMP / mySQL / phpMyAdmin</a:t>
            </a:r>
            <a:endParaRPr i="0" sz="12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3246120" y="1417320"/>
            <a:ext cx="2651760" cy="3291840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3337560" y="301752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 Black"/>
              <a:buNone/>
            </a:pPr>
            <a:r>
              <a:rPr b="1" lang="en-US" sz="160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Bádogos Ádám</a:t>
            </a:r>
            <a:endParaRPr i="0" sz="16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3337560" y="3547872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100"/>
              <a:buFont typeface="Calibri"/>
              <a:buNone/>
            </a:pPr>
            <a:r>
              <a:rPr i="1" lang="en-US" sz="1300" u="none" cap="none" strike="noStrike">
                <a:solidFill>
                  <a:srgbClr val="F5A623"/>
                </a:solidFill>
                <a:latin typeface="Comic Sans MS"/>
                <a:ea typeface="Comic Sans MS"/>
                <a:cs typeface="Comic Sans MS"/>
                <a:sym typeface="Comic Sans MS"/>
              </a:rPr>
              <a:t>Frontend</a:t>
            </a:r>
            <a:r>
              <a:rPr i="1" lang="en-US" sz="1300">
                <a:solidFill>
                  <a:srgbClr val="F5A623"/>
                </a:solidFill>
                <a:latin typeface="Comic Sans MS"/>
                <a:ea typeface="Comic Sans MS"/>
                <a:cs typeface="Comic Sans MS"/>
                <a:sym typeface="Comic Sans MS"/>
              </a:rPr>
              <a:t> / Design</a:t>
            </a:r>
            <a:endParaRPr i="0" sz="13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3383280" y="397764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0B0"/>
              </a:buClr>
              <a:buSzPts val="1000"/>
              <a:buFont typeface="Calibri"/>
              <a:buNone/>
            </a:pPr>
            <a:r>
              <a:rPr lang="en-US" sz="1200">
                <a:solidFill>
                  <a:srgbClr val="A0A0B0"/>
                </a:solidFill>
                <a:latin typeface="Comic Sans MS"/>
                <a:ea typeface="Comic Sans MS"/>
                <a:cs typeface="Comic Sans MS"/>
                <a:sym typeface="Comic Sans MS"/>
              </a:rPr>
              <a:t>Angular / Figma</a:t>
            </a:r>
            <a:endParaRPr i="0" sz="12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6126480" y="1417320"/>
            <a:ext cx="2651760" cy="3291840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6217920" y="301752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 Black"/>
              <a:buNone/>
            </a:pPr>
            <a:r>
              <a:rPr b="1" lang="en-US" sz="160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Gárdony Martin</a:t>
            </a:r>
            <a:endParaRPr i="0" sz="16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6217920" y="3547872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100"/>
              <a:buFont typeface="Calibri"/>
              <a:buNone/>
            </a:pPr>
            <a:r>
              <a:rPr i="1" lang="en-US" sz="1300">
                <a:solidFill>
                  <a:srgbClr val="F5A623"/>
                </a:solidFill>
                <a:latin typeface="Comic Sans MS"/>
                <a:ea typeface="Comic Sans MS"/>
                <a:cs typeface="Comic Sans MS"/>
                <a:sym typeface="Comic Sans MS"/>
              </a:rPr>
              <a:t>Backend / Prezentáció</a:t>
            </a:r>
            <a:endParaRPr i="0" sz="13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6263640" y="397764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0B0"/>
              </a:buClr>
              <a:buSzPts val="1000"/>
              <a:buFont typeface="Calibri"/>
              <a:buNone/>
            </a:pPr>
            <a:r>
              <a:rPr lang="en-US" sz="1200">
                <a:solidFill>
                  <a:srgbClr val="A0A0B0"/>
                </a:solidFill>
                <a:latin typeface="Comic Sans MS"/>
                <a:ea typeface="Comic Sans MS"/>
                <a:cs typeface="Comic Sans MS"/>
                <a:sym typeface="Comic Sans MS"/>
              </a:rPr>
              <a:t>Spring Boot / Google Slides</a:t>
            </a:r>
            <a:endParaRPr i="0" sz="12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43" name="Google Shape;43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7925" y="1480227"/>
            <a:ext cx="1068175" cy="1602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7550" y="1480213"/>
            <a:ext cx="1068175" cy="160226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18275" y="1480213"/>
            <a:ext cx="1068175" cy="160226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18990" y="159738"/>
            <a:ext cx="1674950" cy="1116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94560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731520" y="18288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 Black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01 — </a:t>
            </a:r>
            <a:r>
              <a:rPr b="1" lang="en-US" sz="440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A projektről</a:t>
            </a:r>
            <a:endParaRPr i="0" sz="4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731520" y="1645920"/>
            <a:ext cx="1097280" cy="9144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213E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6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6"/>
          <p:cNvSpPr/>
          <p:nvPr/>
        </p:nvSpPr>
        <p:spPr>
          <a:xfrm>
            <a:off x="457200" y="237775"/>
            <a:ext cx="8229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1" lang="en-US" sz="300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Maga a projekt</a:t>
            </a:r>
            <a:endParaRPr i="0" sz="30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3" name="Google Shape;6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00584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6"/>
          <p:cNvSpPr/>
          <p:nvPr/>
        </p:nvSpPr>
        <p:spPr>
          <a:xfrm>
            <a:off x="1234445" y="868720"/>
            <a:ext cx="7315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700"/>
              <a:buFont typeface="Calibri"/>
              <a:buNone/>
            </a:pPr>
            <a:r>
              <a:rPr lang="en-US" sz="1800">
                <a:solidFill>
                  <a:srgbClr val="F0F0F0"/>
                </a:solidFill>
                <a:latin typeface="Comic Sans MS"/>
                <a:ea typeface="Comic Sans MS"/>
                <a:cs typeface="Comic Sans MS"/>
                <a:sym typeface="Comic Sans MS"/>
              </a:rPr>
              <a:t>Az ötlet Ádám szüleinek köszönhető</a:t>
            </a:r>
            <a:endParaRPr i="0" sz="18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457200" y="1965960"/>
            <a:ext cx="2606100" cy="2606100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457200" y="1965960"/>
            <a:ext cx="2606040" cy="91440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7" name="Google Shape;6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8732" y="214356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6"/>
          <p:cNvSpPr/>
          <p:nvPr/>
        </p:nvSpPr>
        <p:spPr>
          <a:xfrm>
            <a:off x="548640" y="3040390"/>
            <a:ext cx="2423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 Black"/>
              <a:buNone/>
            </a:pPr>
            <a:r>
              <a:rPr b="1" lang="en-US" sz="160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Webshop valódi felhasználóknak</a:t>
            </a:r>
            <a:endParaRPr i="0" sz="16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3291840" y="1965960"/>
            <a:ext cx="2606100" cy="2606100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6"/>
          <p:cNvSpPr/>
          <p:nvPr/>
        </p:nvSpPr>
        <p:spPr>
          <a:xfrm>
            <a:off x="3291840" y="1965960"/>
            <a:ext cx="2606040" cy="9144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1" name="Google Shape;71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20548" y="2143548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6"/>
          <p:cNvSpPr/>
          <p:nvPr/>
        </p:nvSpPr>
        <p:spPr>
          <a:xfrm>
            <a:off x="3383305" y="3040390"/>
            <a:ext cx="2423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 Black"/>
              <a:buNone/>
            </a:pPr>
            <a:r>
              <a:rPr b="1" lang="en-US" sz="160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Eszközök, szerszámok </a:t>
            </a:r>
            <a:r>
              <a:rPr b="1" lang="en-US" sz="160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hirdetése</a:t>
            </a:r>
            <a:r>
              <a:rPr b="1" lang="en-US" sz="160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 / árusítása</a:t>
            </a:r>
            <a:endParaRPr i="0" sz="16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6126480" y="1965960"/>
            <a:ext cx="2606040" cy="2606040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6"/>
          <p:cNvSpPr/>
          <p:nvPr/>
        </p:nvSpPr>
        <p:spPr>
          <a:xfrm>
            <a:off x="6126480" y="1965960"/>
            <a:ext cx="2606040" cy="91440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6"/>
          <p:cNvSpPr/>
          <p:nvPr/>
        </p:nvSpPr>
        <p:spPr>
          <a:xfrm>
            <a:off x="6218045" y="3040390"/>
            <a:ext cx="2423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 Black"/>
              <a:buNone/>
            </a:pPr>
            <a:r>
              <a:rPr b="1" lang="en-US" sz="160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Maga a kisvállalkozás támogatása</a:t>
            </a:r>
            <a:endParaRPr i="0" sz="16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descr="preencoded.png" id="76" name="Google Shape;76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32375" y="2097862"/>
            <a:ext cx="594300" cy="59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418990" y="159738"/>
            <a:ext cx="1674950" cy="1116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213E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7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7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1" lang="en-US" sz="300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Célunk a projekttel</a:t>
            </a:r>
            <a:endParaRPr i="0" sz="30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85" name="Google Shape;85;p7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7"/>
          <p:cNvSpPr/>
          <p:nvPr/>
        </p:nvSpPr>
        <p:spPr>
          <a:xfrm>
            <a:off x="365760" y="1005840"/>
            <a:ext cx="3931920" cy="1508760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7" name="Google Shape;8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1887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7"/>
          <p:cNvSpPr/>
          <p:nvPr/>
        </p:nvSpPr>
        <p:spPr>
          <a:xfrm>
            <a:off x="1188720" y="1188720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600"/>
              <a:buFont typeface="Arial Black"/>
              <a:buNone/>
            </a:pPr>
            <a:r>
              <a:rPr b="1" lang="en-US" sz="1800">
                <a:solidFill>
                  <a:srgbClr val="F5A623"/>
                </a:solidFill>
                <a:latin typeface="Comic Sans MS"/>
                <a:ea typeface="Comic Sans MS"/>
                <a:cs typeface="Comic Sans MS"/>
                <a:sym typeface="Comic Sans MS"/>
              </a:rPr>
              <a:t>Elérhetőség</a:t>
            </a:r>
            <a:endParaRPr i="0" sz="18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1188720" y="1600200"/>
            <a:ext cx="2926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200"/>
              <a:buFont typeface="Calibri"/>
              <a:buNone/>
            </a:pPr>
            <a:r>
              <a:rPr lang="en-US">
                <a:solidFill>
                  <a:srgbClr val="F0F0F0"/>
                </a:solidFill>
                <a:latin typeface="Comic Sans MS"/>
                <a:ea typeface="Comic Sans MS"/>
                <a:cs typeface="Comic Sans MS"/>
                <a:sym typeface="Comic Sans MS"/>
              </a:rPr>
              <a:t>Bárkinek elérhető legyen</a:t>
            </a:r>
            <a:endParaRPr i="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365760" y="2743200"/>
            <a:ext cx="3931920" cy="1508760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1" name="Google Shape;9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29260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7"/>
          <p:cNvSpPr/>
          <p:nvPr/>
        </p:nvSpPr>
        <p:spPr>
          <a:xfrm>
            <a:off x="1188720" y="2926080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600"/>
              <a:buFont typeface="Arial Black"/>
              <a:buNone/>
            </a:pPr>
            <a:r>
              <a:rPr b="1" lang="en-US" sz="1800">
                <a:solidFill>
                  <a:srgbClr val="F5A623"/>
                </a:solidFill>
                <a:latin typeface="Comic Sans MS"/>
                <a:ea typeface="Comic Sans MS"/>
                <a:cs typeface="Comic Sans MS"/>
                <a:sym typeface="Comic Sans MS"/>
              </a:rPr>
              <a:t>Vásárlók behozása</a:t>
            </a:r>
            <a:endParaRPr i="0" sz="18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1188720" y="3337560"/>
            <a:ext cx="2926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200"/>
              <a:buFont typeface="Calibri"/>
              <a:buNone/>
            </a:pPr>
            <a:r>
              <a:rPr lang="en-US">
                <a:solidFill>
                  <a:srgbClr val="F0F0F0"/>
                </a:solidFill>
                <a:latin typeface="Comic Sans MS"/>
                <a:ea typeface="Comic Sans MS"/>
                <a:cs typeface="Comic Sans MS"/>
                <a:sym typeface="Comic Sans MS"/>
              </a:rPr>
              <a:t>Több vásárló a webes felület miatt</a:t>
            </a:r>
            <a:endParaRPr i="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4663440" y="1005840"/>
            <a:ext cx="3931920" cy="1508760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5" name="Google Shape;95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46320" y="11887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7"/>
          <p:cNvSpPr/>
          <p:nvPr/>
        </p:nvSpPr>
        <p:spPr>
          <a:xfrm>
            <a:off x="5486400" y="1188720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600"/>
              <a:buFont typeface="Arial Black"/>
              <a:buNone/>
            </a:pPr>
            <a:r>
              <a:rPr b="1" lang="en-US" sz="1800">
                <a:solidFill>
                  <a:srgbClr val="F5A623"/>
                </a:solidFill>
                <a:latin typeface="Comic Sans MS"/>
                <a:ea typeface="Comic Sans MS"/>
                <a:cs typeface="Comic Sans MS"/>
                <a:sym typeface="Comic Sans MS"/>
              </a:rPr>
              <a:t>Telefonos kényelem</a:t>
            </a:r>
            <a:endParaRPr i="0" sz="18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5486400" y="1600200"/>
            <a:ext cx="2926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200"/>
              <a:buFont typeface="Calibri"/>
              <a:buNone/>
            </a:pPr>
            <a:r>
              <a:rPr lang="en-US">
                <a:solidFill>
                  <a:srgbClr val="F0F0F0"/>
                </a:solidFill>
                <a:latin typeface="Comic Sans MS"/>
                <a:ea typeface="Comic Sans MS"/>
                <a:cs typeface="Comic Sans MS"/>
                <a:sym typeface="Comic Sans MS"/>
              </a:rPr>
              <a:t>Telefonról is könnyen lehessen rendelni</a:t>
            </a:r>
            <a:endParaRPr i="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4663440" y="2743200"/>
            <a:ext cx="3931920" cy="1508760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9" name="Google Shape;99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46320" y="29260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7"/>
          <p:cNvSpPr/>
          <p:nvPr/>
        </p:nvSpPr>
        <p:spPr>
          <a:xfrm>
            <a:off x="5486400" y="2926080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600"/>
              <a:buFont typeface="Arial Black"/>
              <a:buNone/>
            </a:pPr>
            <a:r>
              <a:rPr b="1" lang="en-US" sz="1800">
                <a:solidFill>
                  <a:srgbClr val="F5A623"/>
                </a:solidFill>
                <a:latin typeface="Comic Sans MS"/>
                <a:ea typeface="Comic Sans MS"/>
                <a:cs typeface="Comic Sans MS"/>
                <a:sym typeface="Comic Sans MS"/>
              </a:rPr>
              <a:t>Csapatmunka</a:t>
            </a:r>
            <a:endParaRPr i="0" sz="18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5486400" y="3337560"/>
            <a:ext cx="2926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200"/>
              <a:buFont typeface="Calibri"/>
              <a:buNone/>
            </a:pPr>
            <a:r>
              <a:rPr lang="en-US">
                <a:solidFill>
                  <a:srgbClr val="F0F0F0"/>
                </a:solidFill>
                <a:latin typeface="Comic Sans MS"/>
                <a:ea typeface="Comic Sans MS"/>
                <a:cs typeface="Comic Sans MS"/>
                <a:sym typeface="Comic Sans MS"/>
              </a:rPr>
              <a:t>Fejleszteni a csapatmunkánk a projekt alatt</a:t>
            </a:r>
            <a:endParaRPr i="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02" name="Google Shape;102;p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418990" y="159738"/>
            <a:ext cx="1674950" cy="1116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94560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"/>
          <p:cNvSpPr/>
          <p:nvPr/>
        </p:nvSpPr>
        <p:spPr>
          <a:xfrm>
            <a:off x="22250" y="0"/>
            <a:ext cx="9144000" cy="5143500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8"/>
          <p:cNvSpPr/>
          <p:nvPr/>
        </p:nvSpPr>
        <p:spPr>
          <a:xfrm>
            <a:off x="731520" y="18288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 Black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r>
              <a:rPr b="1" lang="en-US" sz="440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r>
              <a:rPr b="1" i="0" lang="en-US" sz="44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 — </a:t>
            </a:r>
            <a:r>
              <a:rPr b="1" lang="en-US" sz="440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Adatbázis terv</a:t>
            </a:r>
            <a:endParaRPr i="0" sz="4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10" name="Google Shape;110;p8"/>
          <p:cNvSpPr/>
          <p:nvPr/>
        </p:nvSpPr>
        <p:spPr>
          <a:xfrm>
            <a:off x="731520" y="1645920"/>
            <a:ext cx="1097400" cy="9150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213E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9"/>
          <p:cNvSpPr/>
          <p:nvPr/>
        </p:nvSpPr>
        <p:spPr>
          <a:xfrm>
            <a:off x="0" y="0"/>
            <a:ext cx="9144000" cy="109800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9"/>
          <p:cNvSpPr/>
          <p:nvPr/>
        </p:nvSpPr>
        <p:spPr>
          <a:xfrm>
            <a:off x="457200" y="822960"/>
            <a:ext cx="8229600" cy="36600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9"/>
          <p:cNvSpPr txBox="1"/>
          <p:nvPr/>
        </p:nvSpPr>
        <p:spPr>
          <a:xfrm>
            <a:off x="457200" y="330350"/>
            <a:ext cx="3878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Adatbázis terv</a:t>
            </a:r>
            <a:endParaRPr sz="20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19" name="Google Shape;119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8990" y="159738"/>
            <a:ext cx="1674950" cy="1116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6288" y="1043500"/>
            <a:ext cx="6091426" cy="397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94560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"/>
          <p:cNvSpPr/>
          <p:nvPr/>
        </p:nvSpPr>
        <p:spPr>
          <a:xfrm>
            <a:off x="22250" y="0"/>
            <a:ext cx="9144000" cy="5143500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0"/>
          <p:cNvSpPr/>
          <p:nvPr/>
        </p:nvSpPr>
        <p:spPr>
          <a:xfrm>
            <a:off x="731520" y="18288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 Black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r>
              <a:rPr b="1" lang="en-US" sz="440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3</a:t>
            </a:r>
            <a:r>
              <a:rPr b="1" i="0" lang="en-US" sz="44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 — </a:t>
            </a:r>
            <a:r>
              <a:rPr b="1" lang="en-US" sz="440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Design</a:t>
            </a:r>
            <a:r>
              <a:rPr b="1" lang="en-US" sz="440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 terv</a:t>
            </a:r>
            <a:endParaRPr i="0" sz="4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28" name="Google Shape;128;p10"/>
          <p:cNvSpPr/>
          <p:nvPr/>
        </p:nvSpPr>
        <p:spPr>
          <a:xfrm>
            <a:off x="731520" y="1645920"/>
            <a:ext cx="1097400" cy="9150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213E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1"/>
          <p:cNvSpPr/>
          <p:nvPr/>
        </p:nvSpPr>
        <p:spPr>
          <a:xfrm>
            <a:off x="0" y="0"/>
            <a:ext cx="9144000" cy="109800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1"/>
          <p:cNvSpPr/>
          <p:nvPr/>
        </p:nvSpPr>
        <p:spPr>
          <a:xfrm>
            <a:off x="457200" y="822960"/>
            <a:ext cx="8229600" cy="36600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1"/>
          <p:cNvSpPr txBox="1"/>
          <p:nvPr/>
        </p:nvSpPr>
        <p:spPr>
          <a:xfrm>
            <a:off x="457200" y="330350"/>
            <a:ext cx="3878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Design terv - 1</a:t>
            </a:r>
            <a:endParaRPr sz="20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37" name="Google Shape;137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8990" y="159738"/>
            <a:ext cx="1674950" cy="1116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3538" y="1206339"/>
            <a:ext cx="7076921" cy="3562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213E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2"/>
          <p:cNvSpPr/>
          <p:nvPr/>
        </p:nvSpPr>
        <p:spPr>
          <a:xfrm>
            <a:off x="0" y="0"/>
            <a:ext cx="9144000" cy="109800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2"/>
          <p:cNvSpPr/>
          <p:nvPr/>
        </p:nvSpPr>
        <p:spPr>
          <a:xfrm>
            <a:off x="457200" y="822960"/>
            <a:ext cx="8229600" cy="36600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2"/>
          <p:cNvSpPr txBox="1"/>
          <p:nvPr/>
        </p:nvSpPr>
        <p:spPr>
          <a:xfrm>
            <a:off x="457200" y="330350"/>
            <a:ext cx="3878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Design terv - 2</a:t>
            </a:r>
            <a:endParaRPr sz="20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47" name="Google Shape;147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8990" y="159738"/>
            <a:ext cx="1674950" cy="1116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4688" y="1043510"/>
            <a:ext cx="6645681" cy="39791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94560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3"/>
          <p:cNvSpPr/>
          <p:nvPr/>
        </p:nvSpPr>
        <p:spPr>
          <a:xfrm>
            <a:off x="731520" y="18288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 Black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r>
              <a:rPr b="1" lang="en-US" sz="440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4</a:t>
            </a:r>
            <a:r>
              <a:rPr b="1" i="0" lang="en-US" sz="44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 — </a:t>
            </a:r>
            <a:r>
              <a:rPr b="1" lang="en-US" sz="440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Jira &amp; Git</a:t>
            </a:r>
            <a:endParaRPr i="0" sz="4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56" name="Google Shape;156;p13"/>
          <p:cNvSpPr/>
          <p:nvPr/>
        </p:nvSpPr>
        <p:spPr>
          <a:xfrm>
            <a:off x="731520" y="1645920"/>
            <a:ext cx="1097400" cy="9150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213E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4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1" lang="en-US" sz="300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Jira</a:t>
            </a:r>
            <a:endParaRPr i="0" sz="30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64" name="Google Shape;164;p14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4"/>
          <p:cNvSpPr/>
          <p:nvPr/>
        </p:nvSpPr>
        <p:spPr>
          <a:xfrm>
            <a:off x="457200" y="960120"/>
            <a:ext cx="402336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mic Sans MS"/>
              <a:buChar char="❖"/>
            </a:pPr>
            <a:r>
              <a:rPr lang="en-US" sz="15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Feladatok kiosztása</a:t>
            </a:r>
            <a:endParaRPr sz="15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mic Sans MS"/>
              <a:buChar char="❖"/>
            </a:pPr>
            <a:r>
              <a:rPr lang="en-US" sz="15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Órák követése</a:t>
            </a:r>
            <a:endParaRPr sz="15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mic Sans MS"/>
              <a:buChar char="❖"/>
            </a:pPr>
            <a:r>
              <a:rPr lang="en-US" sz="15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Pie chart</a:t>
            </a:r>
            <a:endParaRPr sz="15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66" name="Google Shape;166;p14"/>
          <p:cNvSpPr/>
          <p:nvPr/>
        </p:nvSpPr>
        <p:spPr>
          <a:xfrm>
            <a:off x="4754880" y="960120"/>
            <a:ext cx="3931920" cy="3840480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7" name="Google Shape;16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4875" y="941825"/>
            <a:ext cx="3931924" cy="384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18990" y="159738"/>
            <a:ext cx="1674950" cy="1116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213E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5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5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1" lang="en-US" sz="300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Munkaelosztás</a:t>
            </a:r>
            <a:endParaRPr i="0" sz="30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76" name="Google Shape;176;p15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5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B0"/>
              </a:buClr>
              <a:buSzPts val="1400"/>
              <a:buFont typeface="Calibri"/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78" name="Google Shape;178;p15"/>
          <p:cNvSpPr/>
          <p:nvPr/>
        </p:nvSpPr>
        <p:spPr>
          <a:xfrm>
            <a:off x="4846320" y="1600200"/>
            <a:ext cx="3749040" cy="594360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5"/>
          <p:cNvSpPr/>
          <p:nvPr/>
        </p:nvSpPr>
        <p:spPr>
          <a:xfrm>
            <a:off x="4846320" y="1600200"/>
            <a:ext cx="109728" cy="594360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5"/>
          <p:cNvSpPr/>
          <p:nvPr/>
        </p:nvSpPr>
        <p:spPr>
          <a:xfrm>
            <a:off x="5486333" y="1737333"/>
            <a:ext cx="2469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00"/>
              <a:buFont typeface="Calibri"/>
              <a:buNone/>
            </a:pPr>
            <a:r>
              <a:rPr b="1" lang="en-US">
                <a:solidFill>
                  <a:srgbClr val="F0F0F0"/>
                </a:solidFill>
                <a:latin typeface="Comic Sans MS"/>
                <a:ea typeface="Comic Sans MS"/>
                <a:cs typeface="Comic Sans MS"/>
                <a:sym typeface="Comic Sans MS"/>
              </a:rPr>
              <a:t>Kényelmes munkaelosztás</a:t>
            </a:r>
            <a:endParaRPr i="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81" name="Google Shape;181;p15"/>
          <p:cNvSpPr/>
          <p:nvPr/>
        </p:nvSpPr>
        <p:spPr>
          <a:xfrm>
            <a:off x="4846320" y="2350008"/>
            <a:ext cx="3749040" cy="594360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5"/>
          <p:cNvSpPr/>
          <p:nvPr/>
        </p:nvSpPr>
        <p:spPr>
          <a:xfrm>
            <a:off x="4846320" y="2350008"/>
            <a:ext cx="109728" cy="59436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5"/>
          <p:cNvSpPr/>
          <p:nvPr/>
        </p:nvSpPr>
        <p:spPr>
          <a:xfrm>
            <a:off x="5486408" y="2487141"/>
            <a:ext cx="2469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00"/>
              <a:buFont typeface="Calibri"/>
              <a:buNone/>
            </a:pPr>
            <a:r>
              <a:rPr b="1" lang="en-US">
                <a:solidFill>
                  <a:srgbClr val="F0F0F0"/>
                </a:solidFill>
                <a:latin typeface="Comic Sans MS"/>
                <a:ea typeface="Comic Sans MS"/>
                <a:cs typeface="Comic Sans MS"/>
                <a:sym typeface="Comic Sans MS"/>
              </a:rPr>
              <a:t>Segítségnyújtás egymásnak</a:t>
            </a:r>
            <a:endParaRPr i="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84" name="Google Shape;184;p15"/>
          <p:cNvSpPr/>
          <p:nvPr/>
        </p:nvSpPr>
        <p:spPr>
          <a:xfrm>
            <a:off x="4846320" y="3099816"/>
            <a:ext cx="3749040" cy="594360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5"/>
          <p:cNvSpPr/>
          <p:nvPr/>
        </p:nvSpPr>
        <p:spPr>
          <a:xfrm>
            <a:off x="4846320" y="3099816"/>
            <a:ext cx="109728" cy="594360"/>
          </a:xfrm>
          <a:prstGeom prst="rect">
            <a:avLst/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5"/>
          <p:cNvSpPr/>
          <p:nvPr/>
        </p:nvSpPr>
        <p:spPr>
          <a:xfrm>
            <a:off x="5486395" y="3191274"/>
            <a:ext cx="2469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00"/>
              <a:buFont typeface="Calibri"/>
              <a:buNone/>
            </a:pPr>
            <a:r>
              <a:rPr b="1" lang="en-US">
                <a:solidFill>
                  <a:srgbClr val="F0F0F0"/>
                </a:solidFill>
                <a:latin typeface="Comic Sans MS"/>
                <a:ea typeface="Comic Sans MS"/>
                <a:cs typeface="Comic Sans MS"/>
                <a:sym typeface="Comic Sans MS"/>
              </a:rPr>
              <a:t>Discordon egyeztetés</a:t>
            </a:r>
            <a:endParaRPr i="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87" name="Google Shape;187;p15" title="Szerzett pontok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219" y="1572749"/>
            <a:ext cx="4271325" cy="2641101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5"/>
          <p:cNvSpPr txBox="1"/>
          <p:nvPr/>
        </p:nvSpPr>
        <p:spPr>
          <a:xfrm>
            <a:off x="1627875" y="2371650"/>
            <a:ext cx="82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81 </a:t>
            </a:r>
            <a:r>
              <a:rPr lang="en-US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h</a:t>
            </a:r>
            <a:endParaRPr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89" name="Google Shape;189;p15"/>
          <p:cNvSpPr txBox="1"/>
          <p:nvPr/>
        </p:nvSpPr>
        <p:spPr>
          <a:xfrm>
            <a:off x="2712150" y="2359150"/>
            <a:ext cx="320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95</a:t>
            </a:r>
            <a:r>
              <a:rPr lang="en-US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h</a:t>
            </a:r>
            <a:endParaRPr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90" name="Google Shape;190;p15"/>
          <p:cNvSpPr txBox="1"/>
          <p:nvPr/>
        </p:nvSpPr>
        <p:spPr>
          <a:xfrm>
            <a:off x="2183900" y="3003025"/>
            <a:ext cx="320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98</a:t>
            </a:r>
            <a:r>
              <a:rPr lang="en-US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h</a:t>
            </a:r>
            <a:endParaRPr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91" name="Google Shape;19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18990" y="159738"/>
            <a:ext cx="1674950" cy="1116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213E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6"/>
          <p:cNvSpPr/>
          <p:nvPr/>
        </p:nvSpPr>
        <p:spPr>
          <a:xfrm>
            <a:off x="0" y="0"/>
            <a:ext cx="9144000" cy="109800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6"/>
          <p:cNvSpPr/>
          <p:nvPr/>
        </p:nvSpPr>
        <p:spPr>
          <a:xfrm>
            <a:off x="457200" y="228600"/>
            <a:ext cx="8229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1" lang="en-US" sz="300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Git</a:t>
            </a:r>
            <a:endParaRPr i="0" sz="30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99" name="Google Shape;199;p16"/>
          <p:cNvSpPr/>
          <p:nvPr/>
        </p:nvSpPr>
        <p:spPr>
          <a:xfrm>
            <a:off x="457200" y="822960"/>
            <a:ext cx="8229600" cy="36600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6"/>
          <p:cNvSpPr/>
          <p:nvPr/>
        </p:nvSpPr>
        <p:spPr>
          <a:xfrm>
            <a:off x="457200" y="960120"/>
            <a:ext cx="4023300" cy="38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mic Sans MS"/>
              <a:buChar char="❖"/>
            </a:pPr>
            <a:r>
              <a:rPr lang="en-US" sz="15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Folyamatos commitolás</a:t>
            </a:r>
            <a:endParaRPr sz="15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mic Sans MS"/>
              <a:buChar char="❖"/>
            </a:pPr>
            <a:r>
              <a:rPr lang="en-US" sz="15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Gyors elérhetőség</a:t>
            </a:r>
            <a:endParaRPr sz="15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mic Sans MS"/>
              <a:buChar char="❖"/>
            </a:pPr>
            <a:r>
              <a:rPr lang="en-US" sz="15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Könnyű használati felület</a:t>
            </a:r>
            <a:endParaRPr sz="15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01" name="Google Shape;201;p16"/>
          <p:cNvSpPr/>
          <p:nvPr/>
        </p:nvSpPr>
        <p:spPr>
          <a:xfrm>
            <a:off x="4754880" y="960120"/>
            <a:ext cx="3931800" cy="3840600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5188" y="774838"/>
            <a:ext cx="4211174" cy="4211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18990" y="159738"/>
            <a:ext cx="1674950" cy="1116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20676" y="2821850"/>
            <a:ext cx="2096325" cy="232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94560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7"/>
          <p:cNvSpPr/>
          <p:nvPr/>
        </p:nvSpPr>
        <p:spPr>
          <a:xfrm>
            <a:off x="731520" y="18288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 Black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r>
              <a:rPr b="1" lang="en-US" sz="440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5</a:t>
            </a:r>
            <a:r>
              <a:rPr b="1" i="0" lang="en-US" sz="44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 — </a:t>
            </a:r>
            <a:r>
              <a:rPr b="1" lang="en-US" sz="440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Használt technológiák</a:t>
            </a:r>
            <a:endParaRPr i="0" sz="4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12" name="Google Shape;212;p17"/>
          <p:cNvSpPr/>
          <p:nvPr/>
        </p:nvSpPr>
        <p:spPr>
          <a:xfrm>
            <a:off x="731520" y="1645920"/>
            <a:ext cx="1097400" cy="9150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213E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8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8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1" lang="en-US" sz="280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Angular</a:t>
            </a:r>
            <a:endParaRPr i="0" sz="28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20" name="Google Shape;220;p18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8"/>
          <p:cNvSpPr/>
          <p:nvPr/>
        </p:nvSpPr>
        <p:spPr>
          <a:xfrm>
            <a:off x="365760" y="1005840"/>
            <a:ext cx="8412480" cy="804672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8"/>
          <p:cNvSpPr/>
          <p:nvPr/>
        </p:nvSpPr>
        <p:spPr>
          <a:xfrm>
            <a:off x="3840485" y="1010402"/>
            <a:ext cx="1463100" cy="804600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8"/>
          <p:cNvSpPr/>
          <p:nvPr/>
        </p:nvSpPr>
        <p:spPr>
          <a:xfrm>
            <a:off x="3886205" y="1206945"/>
            <a:ext cx="137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 Black"/>
              <a:buNone/>
            </a:pPr>
            <a:r>
              <a:rPr b="1" lang="en-US" sz="160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Főbb jellemzők</a:t>
            </a:r>
            <a:endParaRPr i="0" sz="16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24" name="Google Shape;224;p18"/>
          <p:cNvSpPr/>
          <p:nvPr/>
        </p:nvSpPr>
        <p:spPr>
          <a:xfrm>
            <a:off x="365760" y="1965960"/>
            <a:ext cx="8412480" cy="804672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8"/>
          <p:cNvSpPr/>
          <p:nvPr/>
        </p:nvSpPr>
        <p:spPr>
          <a:xfrm>
            <a:off x="365760" y="1965960"/>
            <a:ext cx="1463040" cy="804672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8"/>
          <p:cNvSpPr/>
          <p:nvPr/>
        </p:nvSpPr>
        <p:spPr>
          <a:xfrm>
            <a:off x="512791" y="2162490"/>
            <a:ext cx="137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8"/>
          <p:cNvSpPr/>
          <p:nvPr/>
        </p:nvSpPr>
        <p:spPr>
          <a:xfrm>
            <a:off x="1988750" y="2162500"/>
            <a:ext cx="67668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 Black"/>
              <a:buNone/>
            </a:pPr>
            <a:r>
              <a:rPr b="1" lang="en-US" sz="150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Komponens-alapú architektúra - Újrafelhasználható, egységes felületi elemek</a:t>
            </a:r>
            <a:endParaRPr i="0" sz="15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28" name="Google Shape;228;p18"/>
          <p:cNvSpPr/>
          <p:nvPr/>
        </p:nvSpPr>
        <p:spPr>
          <a:xfrm>
            <a:off x="365760" y="2926080"/>
            <a:ext cx="8412480" cy="804672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8"/>
          <p:cNvSpPr/>
          <p:nvPr/>
        </p:nvSpPr>
        <p:spPr>
          <a:xfrm>
            <a:off x="365760" y="2926080"/>
            <a:ext cx="1463040" cy="804672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8"/>
          <p:cNvSpPr/>
          <p:nvPr/>
        </p:nvSpPr>
        <p:spPr>
          <a:xfrm>
            <a:off x="411480" y="3108960"/>
            <a:ext cx="137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 Black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8"/>
          <p:cNvSpPr/>
          <p:nvPr/>
        </p:nvSpPr>
        <p:spPr>
          <a:xfrm>
            <a:off x="1965950" y="3068588"/>
            <a:ext cx="68124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 Black"/>
              <a:buNone/>
            </a:pPr>
            <a:r>
              <a:rPr b="1" lang="en-US" sz="150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Teljes értékű keretrendszer - Beépített routing, HTTP kliens, </a:t>
            </a:r>
            <a:r>
              <a:rPr b="1" lang="en-US" sz="150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form kezelés</a:t>
            </a:r>
            <a:endParaRPr i="0" sz="15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32" name="Google Shape;232;p18"/>
          <p:cNvSpPr/>
          <p:nvPr/>
        </p:nvSpPr>
        <p:spPr>
          <a:xfrm>
            <a:off x="365760" y="3886200"/>
            <a:ext cx="8412600" cy="804600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8"/>
          <p:cNvSpPr/>
          <p:nvPr/>
        </p:nvSpPr>
        <p:spPr>
          <a:xfrm>
            <a:off x="365760" y="3886200"/>
            <a:ext cx="1463100" cy="80460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8"/>
          <p:cNvSpPr/>
          <p:nvPr/>
        </p:nvSpPr>
        <p:spPr>
          <a:xfrm>
            <a:off x="411480" y="4069080"/>
            <a:ext cx="137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 Black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8"/>
          <p:cNvSpPr/>
          <p:nvPr/>
        </p:nvSpPr>
        <p:spPr>
          <a:xfrm>
            <a:off x="1965939" y="4082875"/>
            <a:ext cx="6812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 Black"/>
              <a:buNone/>
            </a:pPr>
            <a:r>
              <a:rPr b="1" lang="en-US" sz="150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TypeScript - Statikus típusosság, jobb karbantarthatóság</a:t>
            </a:r>
            <a:endParaRPr i="0" sz="15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236" name="Google Shape;23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8990" y="159738"/>
            <a:ext cx="1674950" cy="1116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28849" y="161825"/>
            <a:ext cx="688555" cy="688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213E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9"/>
          <p:cNvSpPr/>
          <p:nvPr/>
        </p:nvSpPr>
        <p:spPr>
          <a:xfrm>
            <a:off x="0" y="0"/>
            <a:ext cx="9144000" cy="109800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9"/>
          <p:cNvSpPr/>
          <p:nvPr/>
        </p:nvSpPr>
        <p:spPr>
          <a:xfrm>
            <a:off x="457200" y="822960"/>
            <a:ext cx="8229600" cy="36600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9"/>
          <p:cNvSpPr/>
          <p:nvPr/>
        </p:nvSpPr>
        <p:spPr>
          <a:xfrm>
            <a:off x="365760" y="1005840"/>
            <a:ext cx="8412600" cy="804600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9"/>
          <p:cNvSpPr/>
          <p:nvPr/>
        </p:nvSpPr>
        <p:spPr>
          <a:xfrm>
            <a:off x="3840485" y="1010402"/>
            <a:ext cx="1463100" cy="804600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9"/>
          <p:cNvSpPr/>
          <p:nvPr/>
        </p:nvSpPr>
        <p:spPr>
          <a:xfrm>
            <a:off x="3886205" y="1206945"/>
            <a:ext cx="137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 Black"/>
              <a:buNone/>
            </a:pPr>
            <a:r>
              <a:rPr b="1" lang="en-US" sz="160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Főbb jellemzők</a:t>
            </a:r>
            <a:endParaRPr i="0" sz="16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48" name="Google Shape;248;p19"/>
          <p:cNvSpPr/>
          <p:nvPr/>
        </p:nvSpPr>
        <p:spPr>
          <a:xfrm>
            <a:off x="365760" y="1965960"/>
            <a:ext cx="8412600" cy="804600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9"/>
          <p:cNvSpPr/>
          <p:nvPr/>
        </p:nvSpPr>
        <p:spPr>
          <a:xfrm>
            <a:off x="365760" y="1965960"/>
            <a:ext cx="1463100" cy="80460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9"/>
          <p:cNvSpPr/>
          <p:nvPr/>
        </p:nvSpPr>
        <p:spPr>
          <a:xfrm>
            <a:off x="512791" y="2162490"/>
            <a:ext cx="137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9"/>
          <p:cNvSpPr/>
          <p:nvPr/>
        </p:nvSpPr>
        <p:spPr>
          <a:xfrm>
            <a:off x="1988750" y="2162500"/>
            <a:ext cx="67668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 Black"/>
              <a:buNone/>
            </a:pPr>
            <a:r>
              <a:rPr b="1" lang="en-US" sz="150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Széles körű támogatás webes és szerveroldali alkalmazásokhoz</a:t>
            </a:r>
            <a:endParaRPr i="0" sz="15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52" name="Google Shape;252;p19"/>
          <p:cNvSpPr/>
          <p:nvPr/>
        </p:nvSpPr>
        <p:spPr>
          <a:xfrm>
            <a:off x="365760" y="2926080"/>
            <a:ext cx="8412600" cy="804600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9"/>
          <p:cNvSpPr/>
          <p:nvPr/>
        </p:nvSpPr>
        <p:spPr>
          <a:xfrm>
            <a:off x="365760" y="2926080"/>
            <a:ext cx="1463100" cy="804600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9"/>
          <p:cNvSpPr/>
          <p:nvPr/>
        </p:nvSpPr>
        <p:spPr>
          <a:xfrm>
            <a:off x="411480" y="3108960"/>
            <a:ext cx="137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 Black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9"/>
          <p:cNvSpPr/>
          <p:nvPr/>
        </p:nvSpPr>
        <p:spPr>
          <a:xfrm>
            <a:off x="1965950" y="3068588"/>
            <a:ext cx="68124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 Black"/>
              <a:buNone/>
            </a:pPr>
            <a:r>
              <a:rPr b="1" lang="en-US" sz="150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Gyors működés és jó teljesítmény nagy adatmennyiség esetén is</a:t>
            </a:r>
            <a:endParaRPr i="0" sz="15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56" name="Google Shape;256;p19"/>
          <p:cNvSpPr/>
          <p:nvPr/>
        </p:nvSpPr>
        <p:spPr>
          <a:xfrm>
            <a:off x="411480" y="4069080"/>
            <a:ext cx="137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 Black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7" name="Google Shape;25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8990" y="159738"/>
            <a:ext cx="1674950" cy="1116626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9"/>
          <p:cNvSpPr/>
          <p:nvPr/>
        </p:nvSpPr>
        <p:spPr>
          <a:xfrm>
            <a:off x="457200" y="228600"/>
            <a:ext cx="8229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1" lang="en-US" sz="280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MySQL</a:t>
            </a:r>
            <a:endParaRPr i="0" sz="28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259" name="Google Shape;2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65953" y="210425"/>
            <a:ext cx="655296" cy="594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213E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0"/>
          <p:cNvSpPr/>
          <p:nvPr/>
        </p:nvSpPr>
        <p:spPr>
          <a:xfrm>
            <a:off x="0" y="0"/>
            <a:ext cx="9144000" cy="109800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0"/>
          <p:cNvSpPr/>
          <p:nvPr/>
        </p:nvSpPr>
        <p:spPr>
          <a:xfrm>
            <a:off x="457200" y="822960"/>
            <a:ext cx="8229600" cy="36600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0"/>
          <p:cNvSpPr/>
          <p:nvPr/>
        </p:nvSpPr>
        <p:spPr>
          <a:xfrm>
            <a:off x="365760" y="1005840"/>
            <a:ext cx="8412600" cy="804600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0"/>
          <p:cNvSpPr/>
          <p:nvPr/>
        </p:nvSpPr>
        <p:spPr>
          <a:xfrm>
            <a:off x="3840485" y="1010402"/>
            <a:ext cx="1463100" cy="804600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0"/>
          <p:cNvSpPr/>
          <p:nvPr/>
        </p:nvSpPr>
        <p:spPr>
          <a:xfrm>
            <a:off x="3886205" y="1206945"/>
            <a:ext cx="137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 Black"/>
              <a:buNone/>
            </a:pPr>
            <a:r>
              <a:rPr b="1" lang="en-US" sz="160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Főbb jellemzők</a:t>
            </a:r>
            <a:endParaRPr i="0" sz="16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70" name="Google Shape;270;p20"/>
          <p:cNvSpPr/>
          <p:nvPr/>
        </p:nvSpPr>
        <p:spPr>
          <a:xfrm>
            <a:off x="365760" y="1965960"/>
            <a:ext cx="8412600" cy="804600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0"/>
          <p:cNvSpPr/>
          <p:nvPr/>
        </p:nvSpPr>
        <p:spPr>
          <a:xfrm>
            <a:off x="365760" y="1965960"/>
            <a:ext cx="1463100" cy="80460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0"/>
          <p:cNvSpPr/>
          <p:nvPr/>
        </p:nvSpPr>
        <p:spPr>
          <a:xfrm>
            <a:off x="512791" y="2162490"/>
            <a:ext cx="137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0"/>
          <p:cNvSpPr/>
          <p:nvPr/>
        </p:nvSpPr>
        <p:spPr>
          <a:xfrm>
            <a:off x="1988750" y="2162500"/>
            <a:ext cx="67668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 Black"/>
              <a:buNone/>
            </a:pPr>
            <a:r>
              <a:rPr b="1" lang="en-US" sz="150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Gyors fejlesztés és indulás</a:t>
            </a:r>
            <a:endParaRPr i="0" sz="15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74" name="Google Shape;274;p20"/>
          <p:cNvSpPr/>
          <p:nvPr/>
        </p:nvSpPr>
        <p:spPr>
          <a:xfrm>
            <a:off x="365760" y="2926080"/>
            <a:ext cx="8412600" cy="804600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0"/>
          <p:cNvSpPr/>
          <p:nvPr/>
        </p:nvSpPr>
        <p:spPr>
          <a:xfrm>
            <a:off x="365760" y="2926080"/>
            <a:ext cx="1463100" cy="804600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0"/>
          <p:cNvSpPr/>
          <p:nvPr/>
        </p:nvSpPr>
        <p:spPr>
          <a:xfrm>
            <a:off x="411480" y="3108960"/>
            <a:ext cx="137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 Black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0"/>
          <p:cNvSpPr/>
          <p:nvPr/>
        </p:nvSpPr>
        <p:spPr>
          <a:xfrm>
            <a:off x="1965950" y="3068588"/>
            <a:ext cx="68124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 Black"/>
              <a:buNone/>
            </a:pPr>
            <a:r>
              <a:rPr b="1" lang="en-US" sz="150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Kevesebb boilerplate kód (pl. Getter - Setter)</a:t>
            </a:r>
            <a:endParaRPr i="0" sz="15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78" name="Google Shape;278;p20"/>
          <p:cNvSpPr/>
          <p:nvPr/>
        </p:nvSpPr>
        <p:spPr>
          <a:xfrm>
            <a:off x="365760" y="3886200"/>
            <a:ext cx="8412600" cy="804600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0"/>
          <p:cNvSpPr/>
          <p:nvPr/>
        </p:nvSpPr>
        <p:spPr>
          <a:xfrm>
            <a:off x="365760" y="3886200"/>
            <a:ext cx="1463100" cy="80460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0"/>
          <p:cNvSpPr/>
          <p:nvPr/>
        </p:nvSpPr>
        <p:spPr>
          <a:xfrm>
            <a:off x="411480" y="4069080"/>
            <a:ext cx="137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 Black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0"/>
          <p:cNvSpPr/>
          <p:nvPr/>
        </p:nvSpPr>
        <p:spPr>
          <a:xfrm>
            <a:off x="1965939" y="4082875"/>
            <a:ext cx="6812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 Black"/>
              <a:buNone/>
            </a:pPr>
            <a:r>
              <a:rPr b="1" lang="en-US" sz="150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Automatikus konfigurációt, beépített alkalmazásszervert (pl. Tomcat, Jetty) és starter packaget biztosít</a:t>
            </a:r>
            <a:endParaRPr i="0" sz="15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282" name="Google Shape;28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8990" y="159738"/>
            <a:ext cx="1674950" cy="1116626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0"/>
          <p:cNvSpPr/>
          <p:nvPr/>
        </p:nvSpPr>
        <p:spPr>
          <a:xfrm>
            <a:off x="457200" y="228600"/>
            <a:ext cx="8229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1" lang="en-US" sz="280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Spring Boot</a:t>
            </a:r>
            <a:endParaRPr i="0" sz="28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284" name="Google Shape;28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36176" y="141685"/>
            <a:ext cx="1463100" cy="7681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94560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1"/>
          <p:cNvSpPr/>
          <p:nvPr/>
        </p:nvSpPr>
        <p:spPr>
          <a:xfrm>
            <a:off x="731520" y="18288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 Black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r>
              <a:rPr b="1" lang="en-US" sz="440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6</a:t>
            </a:r>
            <a:r>
              <a:rPr b="1" i="0" lang="en-US" sz="44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 — </a:t>
            </a:r>
            <a:r>
              <a:rPr b="1" lang="en-US" sz="440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Tesztelés</a:t>
            </a:r>
            <a:endParaRPr i="0" sz="4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92" name="Google Shape;292;p21"/>
          <p:cNvSpPr/>
          <p:nvPr/>
        </p:nvSpPr>
        <p:spPr>
          <a:xfrm>
            <a:off x="731520" y="1645920"/>
            <a:ext cx="1097400" cy="9150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213E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2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2"/>
          <p:cNvSpPr txBox="1"/>
          <p:nvPr/>
        </p:nvSpPr>
        <p:spPr>
          <a:xfrm>
            <a:off x="457200" y="330350"/>
            <a:ext cx="3878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Tesztelés - Excelt használtunk</a:t>
            </a:r>
            <a:endParaRPr sz="20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301" name="Google Shape;30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6575" y="995286"/>
            <a:ext cx="4690843" cy="39791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18990" y="159738"/>
            <a:ext cx="1674950" cy="1116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94560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3"/>
          <p:cNvSpPr/>
          <p:nvPr/>
        </p:nvSpPr>
        <p:spPr>
          <a:xfrm>
            <a:off x="457200" y="1371600"/>
            <a:ext cx="8229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 Black"/>
              <a:buNone/>
            </a:pPr>
            <a:r>
              <a:rPr b="1" lang="en-US" sz="600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Köszönjük a figyelmet</a:t>
            </a:r>
            <a:r>
              <a:rPr b="1" i="0" lang="en-US" sz="60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!</a:t>
            </a:r>
            <a:endParaRPr i="0" sz="60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09" name="Google Shape;309;p2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0" name="Google Shape;31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8528" y="4233541"/>
            <a:ext cx="2146952" cy="1431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